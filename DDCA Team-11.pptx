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085D8F-72E3-4BF1-A87A-CCCE605EFB66}" v="2" dt="2026-10-15T03:11:04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6949440" cy="25603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0D5E6"/>
                </a:solidFill>
                <a:latin typeface="Aptos"/>
              </a:rPr>
              <a:t>FINAL PROJECT DEMONSTRATION  •  DIGITAL LOGIC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43000"/>
            <a:ext cx="6995160" cy="1325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2F7FF"/>
                </a:solidFill>
                <a:latin typeface="Aptos"/>
              </a:rPr>
              <a:t>Design of a 4:1 Multiplexer
and Its Extension to an 8:1 Multiplexer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914400" cy="50292"/>
          </a:xfrm>
          <a:prstGeom prst="rect">
            <a:avLst/>
          </a:prstGeom>
          <a:solidFill>
            <a:srgbClr val="30D5E6"/>
          </a:solidFill>
          <a:ln>
            <a:solidFill>
              <a:srgbClr val="30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3063240"/>
            <a:ext cx="5303520" cy="2286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FBFD8"/>
                </a:solidFill>
                <a:latin typeface="Aptos"/>
              </a:rPr>
              <a:t>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2834640" cy="25603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M. Kaushik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429000"/>
            <a:ext cx="1828800" cy="25603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2620030699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67912"/>
            <a:ext cx="2834640" cy="25603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P. Bhanu Charan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867912"/>
            <a:ext cx="1828800" cy="25603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2620030698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06824"/>
            <a:ext cx="2834640" cy="25603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G. Sriteja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306824"/>
            <a:ext cx="1828800" cy="25603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2620030700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45736"/>
            <a:ext cx="2834640" cy="273921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300" b="1" dirty="0">
                <a:solidFill>
                  <a:srgbClr val="F2F7FF"/>
                </a:solidFill>
                <a:latin typeface="Aptos"/>
              </a:rPr>
              <a:t>D.Hemaswini</a:t>
            </a:r>
            <a:endParaRPr sz="1300" b="1" dirty="0">
              <a:solidFill>
                <a:srgbClr val="F2F7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0" y="4745736"/>
            <a:ext cx="1828800" cy="25603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2620030673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86400"/>
            <a:ext cx="5029200" cy="25603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CC66"/>
                </a:solidFill>
                <a:latin typeface="Aptos"/>
              </a:rPr>
              <a:t>SECTION: [INSERT SECTION]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70448"/>
            <a:ext cx="5943600" cy="25603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A combinational circuit that routes one selected input to an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828800"/>
            <a:ext cx="3566160" cy="3154680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2057400"/>
            <a:ext cx="3108960" cy="2743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0D5E6"/>
                </a:solidFill>
                <a:latin typeface="Aptos"/>
              </a:rPr>
              <a:t>MULTIPLEXER ARCHITECTURE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83879" y="2788920"/>
            <a:ext cx="777241" cy="0"/>
          </a:xfrm>
          <a:prstGeom prst="line">
            <a:avLst/>
          </a:prstGeom>
          <a:ln w="1905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73568" y="2706624"/>
            <a:ext cx="45720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D0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83879" y="3200400"/>
            <a:ext cx="777241" cy="0"/>
          </a:xfrm>
          <a:prstGeom prst="line">
            <a:avLst/>
          </a:prstGeom>
          <a:ln w="1905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73568" y="3118104"/>
            <a:ext cx="45720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D1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183879" y="3611880"/>
            <a:ext cx="777241" cy="0"/>
          </a:xfrm>
          <a:prstGeom prst="line">
            <a:avLst/>
          </a:prstGeom>
          <a:ln w="1905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973568" y="3529584"/>
            <a:ext cx="45720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D2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83879" y="4023360"/>
            <a:ext cx="777241" cy="0"/>
          </a:xfrm>
          <a:prstGeom prst="line">
            <a:avLst/>
          </a:prstGeom>
          <a:ln w="1905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73568" y="3941064"/>
            <a:ext cx="45720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D3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2633472"/>
            <a:ext cx="1143000" cy="1600200"/>
          </a:xfrm>
          <a:prstGeom prst="roundRect">
            <a:avLst/>
          </a:prstGeom>
          <a:solidFill>
            <a:srgbClr val="233958"/>
          </a:solidFill>
          <a:ln>
            <a:solidFill>
              <a:srgbClr val="52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34272" y="3108960"/>
            <a:ext cx="1005840" cy="5029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2F7FF"/>
                </a:solidFill>
                <a:latin typeface="Aptos"/>
              </a:rPr>
              <a:t>4:1
MUX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104120" y="3429000"/>
            <a:ext cx="777240" cy="0"/>
          </a:xfrm>
          <a:prstGeom prst="line">
            <a:avLst/>
          </a:prstGeom>
          <a:ln w="25400">
            <a:solidFill>
              <a:srgbClr val="68E2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927080" y="3310128"/>
            <a:ext cx="320040" cy="2286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8E2B1"/>
                </a:solidFill>
                <a:latin typeface="Aptos"/>
              </a:rPr>
              <a:t>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498848"/>
            <a:ext cx="2880360" cy="2286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AFBFD8"/>
                </a:solidFill>
                <a:latin typeface="Aptos"/>
              </a:rPr>
              <a:t>Select lines: S₁, S₀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9144000" cy="2286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0D5E6"/>
                </a:solidFill>
                <a:latin typeface="Aptos"/>
              </a:rPr>
              <a:t>01 /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2F7FF"/>
                </a:solidFill>
                <a:latin typeface="Aptos"/>
              </a:rPr>
              <a:t>Introduction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292608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Multiplexers are fundamental combinational circuits used for digital data selection.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685800" cy="41148"/>
          </a:xfrm>
          <a:prstGeom prst="rect">
            <a:avLst/>
          </a:prstGeom>
          <a:solidFill>
            <a:srgbClr val="30D5E6"/>
          </a:solidFill>
          <a:ln>
            <a:solidFill>
              <a:srgbClr val="30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02/06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3520440" cy="1417320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847088"/>
            <a:ext cx="50292" cy="1417320"/>
          </a:xfrm>
          <a:prstGeom prst="rect">
            <a:avLst/>
          </a:prstGeom>
          <a:solidFill>
            <a:srgbClr val="30D5E6"/>
          </a:solidFill>
          <a:ln>
            <a:solidFill>
              <a:srgbClr val="30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75104"/>
            <a:ext cx="3200400" cy="2743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7FF"/>
                </a:solidFill>
                <a:latin typeface="Aptos"/>
              </a:rPr>
              <a:t>WHAT IS A MUX?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22576"/>
            <a:ext cx="3172968" cy="8686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A multiplexer (MUX) selects one of several data inputs and forwards it to one output.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47088"/>
            <a:ext cx="3520440" cy="1417320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47088"/>
            <a:ext cx="50292" cy="1417320"/>
          </a:xfrm>
          <a:prstGeom prst="rect">
            <a:avLst/>
          </a:prstGeom>
          <a:solidFill>
            <a:srgbClr val="528BFF"/>
          </a:solidFill>
          <a:ln>
            <a:solidFill>
              <a:srgbClr val="52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975104"/>
            <a:ext cx="3200400" cy="2743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7FF"/>
                </a:solidFill>
                <a:latin typeface="Aptos"/>
              </a:rPr>
              <a:t>4:1 MULTIPLEXER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22576"/>
            <a:ext cx="3172968" cy="8686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4 data inputs • 2 select bits • 1 output
Number of choices = 2² = 4.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847088"/>
            <a:ext cx="3520440" cy="1417320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28431" y="1847088"/>
            <a:ext cx="50292" cy="1417320"/>
          </a:xfrm>
          <a:prstGeom prst="rect">
            <a:avLst/>
          </a:prstGeom>
          <a:solidFill>
            <a:srgbClr val="68E2B1"/>
          </a:solidFill>
          <a:ln>
            <a:solidFill>
              <a:srgbClr val="68E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1" y="1975104"/>
            <a:ext cx="3200400" cy="2743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7FF"/>
                </a:solidFill>
                <a:latin typeface="Aptos"/>
              </a:rPr>
              <a:t>8:1 MULTIPLEXER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1" y="2322576"/>
            <a:ext cx="3172968" cy="8686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8 data inputs • 3 select bits • 1 output
Number of choices = 2³ = 8.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0D5E6"/>
                </a:solidFill>
                <a:latin typeface="Aptos"/>
              </a:rPr>
              <a:t>PROJECT OBJECTIVES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5669280" cy="36576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7FF"/>
                </a:solidFill>
                <a:latin typeface="Aptos"/>
              </a:rPr>
              <a:t>•  Design and verify a 4:1 multiplexer using logic gates.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72000"/>
            <a:ext cx="5669280" cy="36576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7FF"/>
                </a:solidFill>
                <a:latin typeface="Aptos"/>
              </a:rPr>
              <a:t>•  Extend the design to select among eight data inputs.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5669280" cy="36576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7FF"/>
                </a:solidFill>
                <a:latin typeface="Aptos"/>
              </a:rPr>
              <a:t>•  Validate input-selection behavior through Logisim simulation.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3657600"/>
            <a:ext cx="4434840" cy="1828800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59168" y="3886200"/>
            <a:ext cx="3931920" cy="25603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7FF"/>
                </a:solidFill>
                <a:latin typeface="Aptos"/>
              </a:rPr>
              <a:t>SELECT-LINE CAPACITY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4343400"/>
            <a:ext cx="548640" cy="384048"/>
          </a:xfrm>
          <a:prstGeom prst="roundRect">
            <a:avLst/>
          </a:prstGeom>
          <a:solidFill>
            <a:srgbClr val="528BFF"/>
          </a:solidFill>
          <a:ln>
            <a:solidFill>
              <a:srgbClr val="52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86600" y="4361688"/>
            <a:ext cx="548640" cy="29260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A1226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361688"/>
            <a:ext cx="1143000" cy="292608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7FF"/>
                </a:solidFill>
                <a:latin typeface="Aptos"/>
              </a:rPr>
              <a:t>2² =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4361688"/>
            <a:ext cx="1828800" cy="292608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FBFD8"/>
                </a:solidFill>
                <a:latin typeface="Aptos"/>
              </a:rPr>
              <a:t>four input choices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4910328"/>
            <a:ext cx="548640" cy="384048"/>
          </a:xfrm>
          <a:prstGeom prst="roundRect">
            <a:avLst/>
          </a:prstGeom>
          <a:solidFill>
            <a:srgbClr val="68E2B1"/>
          </a:solidFill>
          <a:ln>
            <a:solidFill>
              <a:srgbClr val="68E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86600" y="4928616"/>
            <a:ext cx="548640" cy="29260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A1226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928616"/>
            <a:ext cx="1143000" cy="292608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7FF"/>
                </a:solidFill>
                <a:latin typeface="Aptos"/>
              </a:rPr>
              <a:t>2³ =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928616"/>
            <a:ext cx="1828800" cy="292608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FBFD8"/>
                </a:solidFill>
                <a:latin typeface="Aptos"/>
              </a:rPr>
              <a:t>eight input choices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9144000" cy="2286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0D5E6"/>
                </a:solidFill>
                <a:latin typeface="Aptos"/>
              </a:rPr>
              <a:t>02 /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2F7FF"/>
                </a:solidFill>
                <a:latin typeface="Aptos"/>
              </a:rPr>
              <a:t>Theory &amp; Logic Circuit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292608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NOT gates generate complemented select signals; AND gates enable paths; OR combines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685800" cy="41148"/>
          </a:xfrm>
          <a:prstGeom prst="rect">
            <a:avLst/>
          </a:prstGeom>
          <a:solidFill>
            <a:srgbClr val="30D5E6"/>
          </a:solidFill>
          <a:ln>
            <a:solidFill>
              <a:srgbClr val="30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03/06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212080" cy="1234440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50292" cy="1234440"/>
          </a:xfrm>
          <a:prstGeom prst="rect">
            <a:avLst/>
          </a:prstGeom>
          <a:solidFill>
            <a:srgbClr val="30D5E6"/>
          </a:solidFill>
          <a:ln>
            <a:solidFill>
              <a:srgbClr val="30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56816"/>
            <a:ext cx="4892040" cy="2743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7FF"/>
                </a:solidFill>
                <a:latin typeface="Aptos"/>
              </a:rPr>
              <a:t>4:1 BOOLEAN EXPRESSION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04288"/>
            <a:ext cx="4864608" cy="6858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Y = D₀S₁′S₀′ + D₁S₁′S₀ + D₂S₁S₀′ + D₃S₁S₀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273552"/>
            <a:ext cx="5212080" cy="1234440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3273552"/>
            <a:ext cx="50292" cy="1234440"/>
          </a:xfrm>
          <a:prstGeom prst="rect">
            <a:avLst/>
          </a:prstGeom>
          <a:solidFill>
            <a:srgbClr val="68E2B1"/>
          </a:solidFill>
          <a:ln>
            <a:solidFill>
              <a:srgbClr val="68E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3401568"/>
            <a:ext cx="4892040" cy="2743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7FF"/>
                </a:solidFill>
                <a:latin typeface="Aptos"/>
              </a:rPr>
              <a:t>8:1 SELECTION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749039"/>
            <a:ext cx="4864608" cy="6858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Y = Dₖ, where k is the binary value of S₂S₁S₀ (000 → D₀, …, 111 → D₇).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800600"/>
            <a:ext cx="5029200" cy="2286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D5E6"/>
                </a:solidFill>
                <a:latin typeface="Aptos"/>
              </a:rPr>
              <a:t>GATES 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66360"/>
            <a:ext cx="4983480" cy="77724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FBFD8"/>
                </a:solidFill>
                <a:latin typeface="Aptos"/>
              </a:rPr>
              <a:t>• 4:1: two NOT, four 3-input AND, one 4-input OR
• 8:1 direct gate build: three NOT, eight 4-input AND, one 8-input 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5166360" cy="4023360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011680"/>
            <a:ext cx="4754880" cy="2743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2F7FF"/>
                </a:solidFill>
                <a:latin typeface="Aptos"/>
              </a:rPr>
              <a:t>4:1 GATE-LEVEL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770632"/>
            <a:ext cx="45720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D0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39712" y="2862072"/>
            <a:ext cx="612648" cy="0"/>
          </a:xfrm>
          <a:prstGeom prst="line">
            <a:avLst/>
          </a:prstGeom>
          <a:ln w="1778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52360" y="2697480"/>
            <a:ext cx="1051560" cy="347472"/>
          </a:xfrm>
          <a:prstGeom prst="roundRect">
            <a:avLst/>
          </a:prstGeom>
          <a:solidFill>
            <a:srgbClr val="233958"/>
          </a:solidFill>
          <a:ln>
            <a:solidFill>
              <a:srgbClr val="52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88936" y="2724912"/>
            <a:ext cx="978407" cy="29260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2F7FF"/>
                </a:solidFill>
                <a:latin typeface="Aptos"/>
              </a:rPr>
              <a:t>AND ×3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03920" y="2862072"/>
            <a:ext cx="685800" cy="0"/>
          </a:xfrm>
          <a:prstGeom prst="line">
            <a:avLst/>
          </a:prstGeom>
          <a:ln w="1651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10528" y="3319272"/>
            <a:ext cx="45720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D1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39712" y="3410712"/>
            <a:ext cx="612648" cy="0"/>
          </a:xfrm>
          <a:prstGeom prst="line">
            <a:avLst/>
          </a:prstGeom>
          <a:ln w="1778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52360" y="3246120"/>
            <a:ext cx="1051560" cy="347472"/>
          </a:xfrm>
          <a:prstGeom prst="roundRect">
            <a:avLst/>
          </a:prstGeom>
          <a:solidFill>
            <a:srgbClr val="233958"/>
          </a:solidFill>
          <a:ln>
            <a:solidFill>
              <a:srgbClr val="52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88936" y="3273551"/>
            <a:ext cx="978407" cy="29260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2F7FF"/>
                </a:solidFill>
                <a:latin typeface="Aptos"/>
              </a:rPr>
              <a:t>AND ×3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03920" y="3410712"/>
            <a:ext cx="685800" cy="0"/>
          </a:xfrm>
          <a:prstGeom prst="line">
            <a:avLst/>
          </a:prstGeom>
          <a:ln w="1651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10528" y="3867912"/>
            <a:ext cx="45720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D2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39712" y="3959352"/>
            <a:ext cx="612648" cy="0"/>
          </a:xfrm>
          <a:prstGeom prst="line">
            <a:avLst/>
          </a:prstGeom>
          <a:ln w="1778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452360" y="3794760"/>
            <a:ext cx="1051560" cy="347472"/>
          </a:xfrm>
          <a:prstGeom prst="roundRect">
            <a:avLst/>
          </a:prstGeom>
          <a:solidFill>
            <a:srgbClr val="233958"/>
          </a:solidFill>
          <a:ln>
            <a:solidFill>
              <a:srgbClr val="52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88936" y="3822192"/>
            <a:ext cx="978407" cy="29260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2F7FF"/>
                </a:solidFill>
                <a:latin typeface="Aptos"/>
              </a:rPr>
              <a:t>AND ×3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03920" y="3959352"/>
            <a:ext cx="685800" cy="0"/>
          </a:xfrm>
          <a:prstGeom prst="line">
            <a:avLst/>
          </a:prstGeom>
          <a:ln w="1651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10528" y="4416552"/>
            <a:ext cx="45720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D3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39712" y="4507992"/>
            <a:ext cx="612648" cy="0"/>
          </a:xfrm>
          <a:prstGeom prst="line">
            <a:avLst/>
          </a:prstGeom>
          <a:ln w="1778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452360" y="4343400"/>
            <a:ext cx="1051560" cy="347472"/>
          </a:xfrm>
          <a:prstGeom prst="roundRect">
            <a:avLst/>
          </a:prstGeom>
          <a:solidFill>
            <a:srgbClr val="233958"/>
          </a:solidFill>
          <a:ln>
            <a:solidFill>
              <a:srgbClr val="52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88936" y="4370832"/>
            <a:ext cx="978407" cy="29260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2F7FF"/>
                </a:solidFill>
                <a:latin typeface="Aptos"/>
              </a:rPr>
              <a:t>AND ×3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503920" y="4507992"/>
            <a:ext cx="685800" cy="0"/>
          </a:xfrm>
          <a:prstGeom prst="line">
            <a:avLst/>
          </a:prstGeom>
          <a:ln w="1651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189720" y="3246120"/>
            <a:ext cx="914400" cy="822960"/>
          </a:xfrm>
          <a:prstGeom prst="roundRect">
            <a:avLst/>
          </a:prstGeom>
          <a:solidFill>
            <a:srgbClr val="233958"/>
          </a:solidFill>
          <a:ln>
            <a:solidFill>
              <a:srgbClr val="30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26296" y="3273551"/>
            <a:ext cx="841248" cy="768096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2F7FF"/>
                </a:solidFill>
                <a:latin typeface="Aptos"/>
              </a:rPr>
              <a:t>OR ×4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961120" y="2862072"/>
            <a:ext cx="228600" cy="795528"/>
          </a:xfrm>
          <a:prstGeom prst="line">
            <a:avLst/>
          </a:prstGeom>
          <a:ln w="1270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961120" y="3410712"/>
            <a:ext cx="228600" cy="246888"/>
          </a:xfrm>
          <a:prstGeom prst="line">
            <a:avLst/>
          </a:prstGeom>
          <a:ln w="1270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961120" y="3657600"/>
            <a:ext cx="228600" cy="301752"/>
          </a:xfrm>
          <a:prstGeom prst="line">
            <a:avLst/>
          </a:prstGeom>
          <a:ln w="1270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961120" y="3657600"/>
            <a:ext cx="228600" cy="850392"/>
          </a:xfrm>
          <a:prstGeom prst="line">
            <a:avLst/>
          </a:prstGeom>
          <a:ln w="1270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104120" y="3657600"/>
            <a:ext cx="548640" cy="0"/>
          </a:xfrm>
          <a:prstGeom prst="line">
            <a:avLst/>
          </a:prstGeom>
          <a:ln w="25400">
            <a:solidFill>
              <a:srgbClr val="68E2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716768" y="3538728"/>
            <a:ext cx="365760" cy="2286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8E2B1"/>
                </a:solidFill>
                <a:latin typeface="Aptos"/>
              </a:rPr>
              <a:t>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074920"/>
            <a:ext cx="4572000" cy="475488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AFBFD8"/>
                </a:solidFill>
                <a:latin typeface="Aptos"/>
              </a:rPr>
              <a:t>Each AND term corresponds to one select combination. Only the selected path can pass its data bit.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0528" y="5596128"/>
            <a:ext cx="4480560" cy="16459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FFCC66"/>
                </a:solidFill>
                <a:latin typeface="Aptos"/>
              </a:rPr>
              <a:t>Conceptual diagram — not a Logisim screenshot.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9144000" cy="2286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0D5E6"/>
                </a:solidFill>
                <a:latin typeface="Aptos"/>
              </a:rPr>
              <a:t>03 /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2F7FF"/>
                </a:solidFill>
                <a:latin typeface="Aptos"/>
              </a:rPr>
              <a:t>Circuit Design in Logisim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292608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Two 4:1 multiplexers feed a final 2:1 selection stage to form an 8:1 MUX.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685800" cy="41148"/>
          </a:xfrm>
          <a:prstGeom prst="rect">
            <a:avLst/>
          </a:prstGeom>
          <a:solidFill>
            <a:srgbClr val="30D5E6"/>
          </a:solidFill>
          <a:ln>
            <a:solidFill>
              <a:srgbClr val="30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04/06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6903720" cy="4069080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6446520" cy="25603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0D5E6"/>
                </a:solidFill>
                <a:latin typeface="Aptos"/>
              </a:rPr>
              <a:t>8:1 MUX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45720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D0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34440" y="2724912"/>
            <a:ext cx="640079" cy="0"/>
          </a:xfrm>
          <a:prstGeom prst="line">
            <a:avLst/>
          </a:prstGeom>
          <a:ln w="1524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2944368"/>
            <a:ext cx="45720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D1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34440" y="3017520"/>
            <a:ext cx="640079" cy="0"/>
          </a:xfrm>
          <a:prstGeom prst="line">
            <a:avLst/>
          </a:prstGeom>
          <a:ln w="1524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3236976"/>
            <a:ext cx="45720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D2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34440" y="3310128"/>
            <a:ext cx="640079" cy="0"/>
          </a:xfrm>
          <a:prstGeom prst="line">
            <a:avLst/>
          </a:prstGeom>
          <a:ln w="1524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3529584"/>
            <a:ext cx="45720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D3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34440" y="3602736"/>
            <a:ext cx="640079" cy="0"/>
          </a:xfrm>
          <a:prstGeom prst="line">
            <a:avLst/>
          </a:prstGeom>
          <a:ln w="1524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4069080"/>
            <a:ext cx="45720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D4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34440" y="4142232"/>
            <a:ext cx="640079" cy="0"/>
          </a:xfrm>
          <a:prstGeom prst="line">
            <a:avLst/>
          </a:prstGeom>
          <a:ln w="1524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4361688"/>
            <a:ext cx="45720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D5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34440" y="4434840"/>
            <a:ext cx="640079" cy="0"/>
          </a:xfrm>
          <a:prstGeom prst="line">
            <a:avLst/>
          </a:prstGeom>
          <a:ln w="1524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8680" y="4654296"/>
            <a:ext cx="45720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D6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34440" y="4727448"/>
            <a:ext cx="640079" cy="0"/>
          </a:xfrm>
          <a:prstGeom prst="line">
            <a:avLst/>
          </a:prstGeom>
          <a:ln w="1524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68680" y="4946904"/>
            <a:ext cx="45720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D7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34440" y="5020056"/>
            <a:ext cx="640079" cy="0"/>
          </a:xfrm>
          <a:prstGeom prst="line">
            <a:avLst/>
          </a:prstGeom>
          <a:ln w="15240">
            <a:solidFill>
              <a:srgbClr val="AFB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874519" y="2542032"/>
            <a:ext cx="1417320" cy="1143000"/>
          </a:xfrm>
          <a:prstGeom prst="roundRect">
            <a:avLst/>
          </a:prstGeom>
          <a:solidFill>
            <a:srgbClr val="233958"/>
          </a:solidFill>
          <a:ln>
            <a:solidFill>
              <a:srgbClr val="52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11095" y="2569463"/>
            <a:ext cx="1344168" cy="1088136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2F7FF"/>
                </a:solidFill>
                <a:latin typeface="Aptos"/>
              </a:rPr>
              <a:t>MUX A
4:1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3968496"/>
            <a:ext cx="1417320" cy="1143000"/>
          </a:xfrm>
          <a:prstGeom prst="roundRect">
            <a:avLst/>
          </a:prstGeom>
          <a:solidFill>
            <a:srgbClr val="233958"/>
          </a:solidFill>
          <a:ln>
            <a:solidFill>
              <a:srgbClr val="52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11095" y="3995928"/>
            <a:ext cx="1344168" cy="1088136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2F7FF"/>
                </a:solidFill>
                <a:latin typeface="Aptos"/>
              </a:rPr>
              <a:t>MUX B
4:1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3657600"/>
            <a:ext cx="128016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FBFD8"/>
                </a:solidFill>
                <a:latin typeface="Aptos"/>
              </a:rPr>
              <a:t>D₀–D₃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5084064"/>
            <a:ext cx="128016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FBFD8"/>
                </a:solidFill>
                <a:latin typeface="Aptos"/>
              </a:rPr>
              <a:t>D₄–D₇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291840" y="3108960"/>
            <a:ext cx="868680" cy="0"/>
          </a:xfrm>
          <a:prstGeom prst="line">
            <a:avLst/>
          </a:prstGeom>
          <a:ln w="25400">
            <a:solidFill>
              <a:srgbClr val="30D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91840" y="4535424"/>
            <a:ext cx="868680" cy="0"/>
          </a:xfrm>
          <a:prstGeom prst="line">
            <a:avLst/>
          </a:prstGeom>
          <a:ln w="25400">
            <a:solidFill>
              <a:srgbClr val="30D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160520" y="3246120"/>
            <a:ext cx="1417320" cy="1143000"/>
          </a:xfrm>
          <a:prstGeom prst="roundRect">
            <a:avLst/>
          </a:prstGeom>
          <a:solidFill>
            <a:srgbClr val="233958"/>
          </a:solidFill>
          <a:ln>
            <a:solidFill>
              <a:srgbClr val="68E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97096" y="3273551"/>
            <a:ext cx="1344168" cy="1088136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2F7FF"/>
                </a:solidFill>
                <a:latin typeface="Aptos"/>
              </a:rPr>
              <a:t>2:1 MUX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3977639" y="3108960"/>
            <a:ext cx="182881" cy="0"/>
          </a:xfrm>
          <a:prstGeom prst="line">
            <a:avLst/>
          </a:prstGeom>
          <a:ln w="25400">
            <a:solidFill>
              <a:srgbClr val="30D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977639" y="3108960"/>
            <a:ext cx="0" cy="438912"/>
          </a:xfrm>
          <a:prstGeom prst="line">
            <a:avLst/>
          </a:prstGeom>
          <a:ln w="25400">
            <a:solidFill>
              <a:srgbClr val="30D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977639" y="3547872"/>
            <a:ext cx="182881" cy="0"/>
          </a:xfrm>
          <a:prstGeom prst="line">
            <a:avLst/>
          </a:prstGeom>
          <a:ln w="25400">
            <a:solidFill>
              <a:srgbClr val="30D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3977639" y="4535424"/>
            <a:ext cx="182881" cy="0"/>
          </a:xfrm>
          <a:prstGeom prst="line">
            <a:avLst/>
          </a:prstGeom>
          <a:ln w="25400">
            <a:solidFill>
              <a:srgbClr val="30D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977639" y="4096512"/>
            <a:ext cx="0" cy="438912"/>
          </a:xfrm>
          <a:prstGeom prst="line">
            <a:avLst/>
          </a:prstGeom>
          <a:ln w="25400">
            <a:solidFill>
              <a:srgbClr val="30D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77639" y="4096512"/>
            <a:ext cx="182881" cy="0"/>
          </a:xfrm>
          <a:prstGeom prst="line">
            <a:avLst/>
          </a:prstGeom>
          <a:ln w="25400">
            <a:solidFill>
              <a:srgbClr val="30D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577840" y="3813048"/>
            <a:ext cx="822960" cy="0"/>
          </a:xfrm>
          <a:prstGeom prst="line">
            <a:avLst/>
          </a:prstGeom>
          <a:ln w="25400">
            <a:solidFill>
              <a:srgbClr val="68E2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446520" y="3694176"/>
            <a:ext cx="365760" cy="2286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8E2B1"/>
                </a:solidFill>
                <a:latin typeface="Aptos"/>
              </a:rPr>
              <a:t>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486400"/>
            <a:ext cx="6217920" cy="201168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AFBFD8"/>
                </a:solidFill>
                <a:latin typeface="Aptos"/>
              </a:rPr>
              <a:t>S₁,S₀ → both 4:1 blocks     •     S₂ → final 2:1 stage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18120" y="1828800"/>
            <a:ext cx="3657600" cy="987552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818120" y="1828800"/>
            <a:ext cx="50292" cy="987552"/>
          </a:xfrm>
          <a:prstGeom prst="rect">
            <a:avLst/>
          </a:prstGeom>
          <a:solidFill>
            <a:srgbClr val="30D5E6"/>
          </a:solidFill>
          <a:ln>
            <a:solidFill>
              <a:srgbClr val="30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01000" y="1956816"/>
            <a:ext cx="3337560" cy="2743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7FF"/>
                </a:solidFill>
                <a:latin typeface="Aptos"/>
              </a:rPr>
              <a:t>1  •  PLACE PINS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2304288"/>
            <a:ext cx="3310128" cy="43891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Data inputs D0–D7, select pins S0–S2, and output Y.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18120" y="2999232"/>
            <a:ext cx="3657600" cy="987552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818120" y="2999232"/>
            <a:ext cx="50292" cy="987552"/>
          </a:xfrm>
          <a:prstGeom prst="rect">
            <a:avLst/>
          </a:prstGeom>
          <a:solidFill>
            <a:srgbClr val="528BFF"/>
          </a:solidFill>
          <a:ln>
            <a:solidFill>
              <a:srgbClr val="52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01000" y="3127248"/>
            <a:ext cx="3337560" cy="2743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7FF"/>
                </a:solidFill>
                <a:latin typeface="Aptos"/>
              </a:rPr>
              <a:t>2  •  CONNECT STAGES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3474720"/>
            <a:ext cx="3310128" cy="43891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Share S1 and S0 across both 4:1 blocks; use S2 for final selection.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18120" y="4169663"/>
            <a:ext cx="3657600" cy="987552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818120" y="4169663"/>
            <a:ext cx="50292" cy="987552"/>
          </a:xfrm>
          <a:prstGeom prst="rect">
            <a:avLst/>
          </a:prstGeom>
          <a:solidFill>
            <a:srgbClr val="68E2B1"/>
          </a:solidFill>
          <a:ln>
            <a:solidFill>
              <a:srgbClr val="68E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01000" y="4297679"/>
            <a:ext cx="3337560" cy="2743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7FF"/>
                </a:solidFill>
                <a:latin typeface="Aptos"/>
              </a:rPr>
              <a:t>3  •  SIMULATE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01000" y="4645152"/>
            <a:ext cx="3310128" cy="43891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Toggle inputs with the Poke tool and verify output Y.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818120" y="5349240"/>
            <a:ext cx="3657600" cy="566928"/>
          </a:xfrm>
          <a:prstGeom prst="roundRect">
            <a:avLst/>
          </a:prstGeom>
          <a:solidFill>
            <a:srgbClr val="0A1226"/>
          </a:solidFill>
          <a:ln>
            <a:solidFill>
              <a:srgbClr val="FF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955279" y="5449824"/>
            <a:ext cx="3383280" cy="310896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CC66"/>
                </a:solidFill>
                <a:latin typeface="Aptos"/>
              </a:rPr>
              <a:t>[INSERT ACTUAL LOGISIM CIRCUIT SCREENSHOT]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5FBC11-1472-BC11-8DDC-71BEC0506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159" y="0"/>
            <a:ext cx="76776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82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9144000" cy="2286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0D5E6"/>
                </a:solidFill>
                <a:latin typeface="Aptos"/>
              </a:rPr>
              <a:t>04 /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2F7FF"/>
                </a:solidFill>
                <a:latin typeface="Aptos"/>
              </a:rPr>
              <a:t>Simulation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292608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Truth tables define the expected output; insert real Logisim captures after testing.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685800" cy="41148"/>
          </a:xfrm>
          <a:prstGeom prst="rect">
            <a:avLst/>
          </a:prstGeom>
          <a:solidFill>
            <a:srgbClr val="30D5E6"/>
          </a:solidFill>
          <a:ln>
            <a:solidFill>
              <a:srgbClr val="30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05/06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92224"/>
            <a:ext cx="4023360" cy="25603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D5E6"/>
                </a:solidFill>
                <a:latin typeface="Aptos"/>
              </a:rPr>
              <a:t>4:1 MULTIPLEXER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960120" cy="393192"/>
          </a:xfrm>
          <a:prstGeom prst="rect">
            <a:avLst/>
          </a:prstGeom>
          <a:solidFill>
            <a:srgbClr val="233958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116836"/>
            <a:ext cx="923544" cy="36576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0D5E6"/>
                </a:solidFill>
                <a:latin typeface="Aptos"/>
              </a:rPr>
              <a:t>S₁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2103120"/>
            <a:ext cx="960120" cy="393192"/>
          </a:xfrm>
          <a:prstGeom prst="rect">
            <a:avLst/>
          </a:prstGeom>
          <a:solidFill>
            <a:srgbClr val="233958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64208" y="2116836"/>
            <a:ext cx="923544" cy="36576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0D5E6"/>
                </a:solidFill>
                <a:latin typeface="Aptos"/>
              </a:rPr>
              <a:t>S₀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2103120"/>
            <a:ext cx="1874519" cy="393192"/>
          </a:xfrm>
          <a:prstGeom prst="rect">
            <a:avLst/>
          </a:prstGeom>
          <a:solidFill>
            <a:srgbClr val="233958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24328" y="2116836"/>
            <a:ext cx="1837943" cy="36576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0D5E6"/>
                </a:solidFill>
                <a:latin typeface="Aptos"/>
              </a:rPr>
              <a:t>Selected input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496312"/>
            <a:ext cx="960120" cy="393192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2510028"/>
            <a:ext cx="923544" cy="36576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2F7FF"/>
                </a:solidFill>
                <a:latin typeface="Aptos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2496312"/>
            <a:ext cx="960120" cy="393192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64208" y="2510028"/>
            <a:ext cx="923544" cy="36576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2F7FF"/>
                </a:solidFill>
                <a:latin typeface="Aptos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2496312"/>
            <a:ext cx="1874519" cy="393192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24328" y="2510028"/>
            <a:ext cx="1837943" cy="36576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E2B1"/>
                </a:solidFill>
                <a:latin typeface="Aptos"/>
              </a:rPr>
              <a:t>D₀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889503"/>
            <a:ext cx="960120" cy="393192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" y="2903220"/>
            <a:ext cx="923544" cy="36576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2F7FF"/>
                </a:solidFill>
                <a:latin typeface="Aptos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2889503"/>
            <a:ext cx="960120" cy="393192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64208" y="2903220"/>
            <a:ext cx="923544" cy="36576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2F7FF"/>
                </a:solidFill>
                <a:latin typeface="Aptos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889503"/>
            <a:ext cx="1874519" cy="393192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24328" y="2903220"/>
            <a:ext cx="1837943" cy="36576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E2B1"/>
                </a:solidFill>
                <a:latin typeface="Aptos"/>
              </a:rPr>
              <a:t>D₁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282696"/>
            <a:ext cx="960120" cy="393192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3296412"/>
            <a:ext cx="923544" cy="36576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2F7FF"/>
                </a:solidFill>
                <a:latin typeface="Aptos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0" y="3282696"/>
            <a:ext cx="960120" cy="393192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64208" y="3296412"/>
            <a:ext cx="923544" cy="36576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2F7FF"/>
                </a:solidFill>
                <a:latin typeface="Aptos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3282696"/>
            <a:ext cx="1874519" cy="393192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24328" y="3296412"/>
            <a:ext cx="1837943" cy="36576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E2B1"/>
                </a:solidFill>
                <a:latin typeface="Aptos"/>
              </a:rPr>
              <a:t>D₂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675887"/>
            <a:ext cx="960120" cy="393192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088" y="3689603"/>
            <a:ext cx="923544" cy="36576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2F7FF"/>
                </a:solidFill>
                <a:latin typeface="Aptos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0" y="3675887"/>
            <a:ext cx="960120" cy="393192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664208" y="3689603"/>
            <a:ext cx="923544" cy="36576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2F7FF"/>
                </a:solidFill>
                <a:latin typeface="Aptos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3675887"/>
            <a:ext cx="1874519" cy="393192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24328" y="3689603"/>
            <a:ext cx="1837943" cy="36576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8E2B1"/>
                </a:solidFill>
                <a:latin typeface="Aptos"/>
              </a:rPr>
              <a:t>D₃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1792224"/>
            <a:ext cx="6217920" cy="25603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D5E6"/>
                </a:solidFill>
                <a:latin typeface="Aptos"/>
              </a:rPr>
              <a:t>8:1 MULTIPLEXER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92040" y="2103120"/>
            <a:ext cx="731520" cy="310896"/>
          </a:xfrm>
          <a:prstGeom prst="rect">
            <a:avLst/>
          </a:prstGeom>
          <a:solidFill>
            <a:srgbClr val="233958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10327" y="2116836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0D5E6"/>
                </a:solidFill>
                <a:latin typeface="Aptos"/>
              </a:rPr>
              <a:t>S₂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23559" y="2103120"/>
            <a:ext cx="731520" cy="310896"/>
          </a:xfrm>
          <a:prstGeom prst="rect">
            <a:avLst/>
          </a:prstGeom>
          <a:solidFill>
            <a:srgbClr val="233958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41847" y="2116836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0D5E6"/>
                </a:solidFill>
                <a:latin typeface="Aptos"/>
              </a:rPr>
              <a:t>S₁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79" y="2103120"/>
            <a:ext cx="731520" cy="310896"/>
          </a:xfrm>
          <a:prstGeom prst="rect">
            <a:avLst/>
          </a:prstGeom>
          <a:solidFill>
            <a:srgbClr val="233958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73367" y="2116836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0D5E6"/>
                </a:solidFill>
                <a:latin typeface="Aptos"/>
              </a:rPr>
              <a:t>S₀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86599" y="2103120"/>
            <a:ext cx="1600200" cy="310896"/>
          </a:xfrm>
          <a:prstGeom prst="rect">
            <a:avLst/>
          </a:prstGeom>
          <a:solidFill>
            <a:srgbClr val="233958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104887" y="2116836"/>
            <a:ext cx="156362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0D5E6"/>
                </a:solidFill>
                <a:latin typeface="Aptos"/>
              </a:rPr>
              <a:t>Selected input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92040" y="2414015"/>
            <a:ext cx="731520" cy="310896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10327" y="2427732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23559" y="2414015"/>
            <a:ext cx="731520" cy="310896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641847" y="2427732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5079" y="2414015"/>
            <a:ext cx="731520" cy="310896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73367" y="2427732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86599" y="2414015"/>
            <a:ext cx="1600200" cy="310896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104887" y="2427732"/>
            <a:ext cx="156362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8E2B1"/>
                </a:solidFill>
                <a:latin typeface="Aptos"/>
              </a:rPr>
              <a:t>D0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92040" y="2724912"/>
            <a:ext cx="731520" cy="310896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910327" y="2738628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23559" y="2724912"/>
            <a:ext cx="731520" cy="310896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641847" y="2738628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79" y="2724912"/>
            <a:ext cx="731520" cy="310896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73367" y="2738628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86599" y="2724912"/>
            <a:ext cx="1600200" cy="310896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104887" y="2738628"/>
            <a:ext cx="156362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8E2B1"/>
                </a:solidFill>
                <a:latin typeface="Aptos"/>
              </a:rPr>
              <a:t>D1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92040" y="3035808"/>
            <a:ext cx="731520" cy="310896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910327" y="3049524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23559" y="3035808"/>
            <a:ext cx="731520" cy="310896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641847" y="3049524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55079" y="3035808"/>
            <a:ext cx="731520" cy="310896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373367" y="3049524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86599" y="3035808"/>
            <a:ext cx="1600200" cy="310896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104887" y="3049524"/>
            <a:ext cx="156362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8E2B1"/>
                </a:solidFill>
                <a:latin typeface="Aptos"/>
              </a:rPr>
              <a:t>D2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92040" y="3346704"/>
            <a:ext cx="731520" cy="310896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10327" y="3360420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23559" y="3346704"/>
            <a:ext cx="731520" cy="310896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641847" y="3360420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55079" y="3346704"/>
            <a:ext cx="731520" cy="310896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373367" y="3360420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086599" y="3346704"/>
            <a:ext cx="1600200" cy="310896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104887" y="3360420"/>
            <a:ext cx="156362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8E2B1"/>
                </a:solidFill>
                <a:latin typeface="Aptos"/>
              </a:rPr>
              <a:t>D3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92040" y="3657600"/>
            <a:ext cx="731520" cy="310896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910327" y="3671315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23559" y="3657600"/>
            <a:ext cx="731520" cy="310896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641847" y="3671315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55079" y="3657600"/>
            <a:ext cx="731520" cy="310896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373367" y="3671315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86599" y="3657600"/>
            <a:ext cx="1600200" cy="310896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104887" y="3671315"/>
            <a:ext cx="156362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8E2B1"/>
                </a:solidFill>
                <a:latin typeface="Aptos"/>
              </a:rPr>
              <a:t>D4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892040" y="3968496"/>
            <a:ext cx="731520" cy="310896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910327" y="3982211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23559" y="3968496"/>
            <a:ext cx="731520" cy="310896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641847" y="3982211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55079" y="3968496"/>
            <a:ext cx="731520" cy="310896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373367" y="3982211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86599" y="3968496"/>
            <a:ext cx="1600200" cy="310896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104887" y="3982211"/>
            <a:ext cx="156362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8E2B1"/>
                </a:solidFill>
                <a:latin typeface="Aptos"/>
              </a:rPr>
              <a:t>D5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892040" y="4279392"/>
            <a:ext cx="731520" cy="310896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910327" y="4293107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23559" y="4279392"/>
            <a:ext cx="731520" cy="310896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641847" y="4293107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55079" y="4279392"/>
            <a:ext cx="731520" cy="310896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373367" y="4293107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086599" y="4279392"/>
            <a:ext cx="1600200" cy="310896"/>
          </a:xfrm>
          <a:prstGeom prst="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104887" y="4293107"/>
            <a:ext cx="156362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8E2B1"/>
                </a:solidFill>
                <a:latin typeface="Aptos"/>
              </a:rPr>
              <a:t>D6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892040" y="4590288"/>
            <a:ext cx="731520" cy="310896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910327" y="4604003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623559" y="4590288"/>
            <a:ext cx="731520" cy="310896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641847" y="4604003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55079" y="4590288"/>
            <a:ext cx="731520" cy="310896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373367" y="4604003"/>
            <a:ext cx="69494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086599" y="4590288"/>
            <a:ext cx="1600200" cy="310896"/>
          </a:xfrm>
          <a:prstGeom prst="rect">
            <a:avLst/>
          </a:prstGeom>
          <a:solidFill>
            <a:srgbClr val="0A1226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104887" y="4604003"/>
            <a:ext cx="1563624" cy="283464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8E2B1"/>
                </a:solidFill>
                <a:latin typeface="Aptos"/>
              </a:rPr>
              <a:t>D7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85800" y="4343400"/>
            <a:ext cx="4114800" cy="1234440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14400" y="4507992"/>
            <a:ext cx="3657600" cy="2286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8E2B1"/>
                </a:solidFill>
                <a:latin typeface="Aptos"/>
              </a:rPr>
              <a:t>EXAMPLE TEST CASE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4400" y="4828032"/>
            <a:ext cx="3657600" cy="5029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7FF"/>
                </a:solidFill>
                <a:latin typeface="Aptos"/>
              </a:rPr>
              <a:t>S₂S₁S₀ = 101 selects D₅.
If D₅ = 1, then Y = 1.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120640" y="4343400"/>
            <a:ext cx="6309360" cy="1234440"/>
          </a:xfrm>
          <a:prstGeom prst="roundRect">
            <a:avLst/>
          </a:prstGeom>
          <a:solidFill>
            <a:srgbClr val="0A1226"/>
          </a:solidFill>
          <a:ln>
            <a:solidFill>
              <a:srgbClr val="FF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321808" y="4507992"/>
            <a:ext cx="5897880" cy="25603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CC66"/>
                </a:solidFill>
                <a:latin typeface="Aptos"/>
              </a:rPr>
              <a:t>[INSERT ACTUAL LOGISIM SIMULATION SCREENSHOT(S)]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349240" y="4892040"/>
            <a:ext cx="5806440" cy="5029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AFBFD8"/>
                </a:solidFill>
                <a:latin typeface="Aptos"/>
              </a:rPr>
              <a:t>Show a 4:1 test and an 8:1 test with select pins and output Y visible.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31520" y="5897880"/>
            <a:ext cx="10515600" cy="2286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FBFD8"/>
                </a:solidFill>
                <a:latin typeface="Aptos"/>
              </a:rPr>
              <a:t>Note: the truth table identifies which data input is selected; Y equals that input’s current logic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9144000" cy="2286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0D5E6"/>
                </a:solidFill>
                <a:latin typeface="Aptos"/>
              </a:rPr>
              <a:t>05 /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972800" cy="5029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2F7FF"/>
                </a:solidFill>
                <a:latin typeface="Aptos"/>
              </a:rPr>
              <a:t>Conclusion &amp;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292608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A multiplexer scales data selection efficiently using a small number of select lines.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685800" cy="41148"/>
          </a:xfrm>
          <a:prstGeom prst="rect">
            <a:avLst/>
          </a:prstGeom>
          <a:solidFill>
            <a:srgbClr val="30D5E6"/>
          </a:solidFill>
          <a:ln>
            <a:solidFill>
              <a:srgbClr val="30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640080" cy="16459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FBFD8"/>
                </a:solidFill>
                <a:latin typeface="Aptos"/>
              </a:rPr>
              <a:t>06/06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212080" cy="1234440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50292" cy="1234440"/>
          </a:xfrm>
          <a:prstGeom prst="rect">
            <a:avLst/>
          </a:prstGeom>
          <a:solidFill>
            <a:srgbClr val="30D5E6"/>
          </a:solidFill>
          <a:ln>
            <a:solidFill>
              <a:srgbClr val="30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02536"/>
            <a:ext cx="4892040" cy="2743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7FF"/>
                </a:solidFill>
                <a:latin typeface="Apto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0008"/>
            <a:ext cx="4864608" cy="6858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A 4:1 MUX selects one of four inputs with two select bits. An 8:1 MUX selects one of eight inputs with three select bits.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5212080" cy="1234440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50292" cy="1234440"/>
          </a:xfrm>
          <a:prstGeom prst="rect">
            <a:avLst/>
          </a:prstGeom>
          <a:solidFill>
            <a:srgbClr val="68E2B1"/>
          </a:solidFill>
          <a:ln>
            <a:solidFill>
              <a:srgbClr val="68E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002536"/>
            <a:ext cx="4892040" cy="2743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7FF"/>
                </a:solidFill>
                <a:latin typeface="Aptos"/>
              </a:rPr>
              <a:t>DESIGN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50008"/>
            <a:ext cx="4864608" cy="6858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FD8"/>
                </a:solidFill>
                <a:latin typeface="Aptos"/>
              </a:rPr>
              <a:t>Two 4:1 MUX blocks plus a 2:1 stage create an 8:1 MUX; alternatively, use a direct gate-level implementation.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4846320" cy="27432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0D5E6"/>
                </a:solidFill>
                <a:latin typeface="Aptos"/>
              </a:rPr>
              <a:t>APPLICATIONS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886200"/>
            <a:ext cx="2395728" cy="658368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959352"/>
            <a:ext cx="214884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F7FF"/>
                </a:solidFill>
                <a:latin typeface="Aptos"/>
              </a:rPr>
              <a:t>Data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187952"/>
            <a:ext cx="2148840" cy="265176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FBFD8"/>
                </a:solidFill>
                <a:latin typeface="Aptos"/>
              </a:rPr>
              <a:t>Choose one source for a shared 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886200"/>
            <a:ext cx="2395728" cy="658368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93008" y="3959352"/>
            <a:ext cx="214884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F7FF"/>
                </a:solidFill>
                <a:latin typeface="Aptos"/>
              </a:rPr>
              <a:t>Processors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4187952"/>
            <a:ext cx="2148840" cy="265176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FBFD8"/>
                </a:solidFill>
                <a:latin typeface="Aptos"/>
              </a:rPr>
              <a:t>Select registers or operands.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90872"/>
            <a:ext cx="2395728" cy="658368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4764024"/>
            <a:ext cx="214884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F7FF"/>
                </a:solidFill>
                <a:latin typeface="Aptos"/>
              </a:rPr>
              <a:t>Communication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992624"/>
            <a:ext cx="2148840" cy="265176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FBFD8"/>
                </a:solidFill>
                <a:latin typeface="Aptos"/>
              </a:rPr>
              <a:t>Switch among signals or channels.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4690872"/>
            <a:ext cx="2395728" cy="658368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93008" y="4764024"/>
            <a:ext cx="2148840" cy="18288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F7FF"/>
                </a:solidFill>
                <a:latin typeface="Aptos"/>
              </a:rPr>
              <a:t>Digital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4992624"/>
            <a:ext cx="2148840" cy="265176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FBFD8"/>
                </a:solidFill>
                <a:latin typeface="Aptos"/>
              </a:rPr>
              <a:t>Implement selection functions.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3474720"/>
            <a:ext cx="4983480" cy="1874519"/>
          </a:xfrm>
          <a:prstGeom prst="roundRect">
            <a:avLst/>
          </a:prstGeom>
          <a:solidFill>
            <a:srgbClr val="14223D"/>
          </a:solidFill>
          <a:ln>
            <a:solidFill>
              <a:srgbClr val="2339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3703320"/>
            <a:ext cx="4480560" cy="256032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8E2B1"/>
                </a:solidFill>
                <a:latin typeface="Aptos"/>
              </a:rPr>
              <a:t>POSSIBLE IMPROVEMENTS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4114800"/>
            <a:ext cx="4389120" cy="105156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• Package MUX designs as reusable subcircuits.
• Test all select combinations and data patterns.
• Compare gate-level and built-in MUX implementations.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989320"/>
            <a:ext cx="10424160" cy="228600"/>
          </a:xfrm>
          <a:prstGeom prst="rect">
            <a:avLst/>
          </a:prstGeom>
          <a:noFill/>
        </p:spPr>
        <p:txBody>
          <a:bodyPr wrap="square" lIns="64008" tIns="36576" rIns="64008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CC66"/>
                </a:solidFill>
                <a:latin typeface="Aptos"/>
              </a:rPr>
              <a:t>Before presenting: replace both screenshot placeholders with captures from your own Logisim simulation.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815</Words>
  <Application>Microsoft Office PowerPoint</Application>
  <PresentationFormat>Widescreen</PresentationFormat>
  <Paragraphs>174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ramcharan motepalli</cp:lastModifiedBy>
  <cp:revision>6</cp:revision>
  <dcterms:created xsi:type="dcterms:W3CDTF">2013-01-27T09:14:16Z</dcterms:created>
  <dcterms:modified xsi:type="dcterms:W3CDTF">2026-10-15T03:14:14Z</dcterms:modified>
  <cp:category/>
</cp:coreProperties>
</file>